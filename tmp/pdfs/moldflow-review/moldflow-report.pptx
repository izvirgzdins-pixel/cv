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12"/>
  </p:notesMasterIdLst>
  <p:handoutMasterIdLst>
    <p:handoutMasterId r:id="rId13"/>
  </p:handoutMasterIdLst>
  <p:sldIdLst>
    <p:sldId id="451" r:id="rId4"/>
    <p:sldId id="488" r:id="rId5"/>
    <p:sldId id="489" r:id="rId6"/>
    <p:sldId id="460" r:id="rId7"/>
    <p:sldId id="454" r:id="rId8"/>
    <p:sldId id="441" r:id="rId9"/>
    <p:sldId id="471" r:id="rId10"/>
    <p:sldId id="443" r:id="rId11"/>
  </p:sldIdLst>
  <p:sldSz cx="10441305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00"/>
    <a:srgbClr val="000099"/>
    <a:srgbClr val="0033CC"/>
    <a:srgbClr val="3333CC"/>
    <a:srgbClr val="6666FF"/>
    <a:srgbClr val="D6ECEE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144"/>
    <p:restoredTop sz="96721"/>
  </p:normalViewPr>
  <p:slideViewPr>
    <p:cSldViewPr showGuides="1">
      <p:cViewPr varScale="1">
        <p:scale>
          <a:sx n="84" d="100"/>
          <a:sy n="84" d="100"/>
        </p:scale>
        <p:origin x="-1037" y="-77"/>
      </p:cViewPr>
      <p:guideLst>
        <p:guide orient="horz" pos="2160"/>
        <p:guide pos="328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9269FE-CC78-46C4-AC06-7D04500EE87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Header Placeholder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EXAMPLE ONLY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Date Placeholder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A8A140-DD6D-437A-B1C7-CF1A0F6F2911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Slide Image Placeholder 3"/>
          <p:cNvSpPr>
            <a:spLocks noGrp="1"/>
          </p:cNvSpPr>
          <p:nvPr>
            <p:ph type="sldImg"/>
          </p:nvPr>
        </p:nvSpPr>
        <p:spPr>
          <a:xfrm>
            <a:off x="819150" y="685800"/>
            <a:ext cx="5219700" cy="3429000"/>
          </a:xfrm>
          <a:prstGeom prst="rect">
            <a:avLst/>
          </a:prstGeom>
          <a:noFill/>
          <a:ln w="12700">
            <a:noFill/>
          </a:ln>
        </p:spPr>
      </p:sp>
      <p:sp>
        <p:nvSpPr>
          <p:cNvPr id="2053" name="Notes Placeholder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Footer Placeholder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82638" y="2130425"/>
            <a:ext cx="8875712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66863" y="3886200"/>
            <a:ext cx="7307262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2288" y="274638"/>
            <a:ext cx="9396412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2288" y="1600200"/>
            <a:ext cx="9396412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500" y="4406900"/>
            <a:ext cx="8874125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5500" y="2906713"/>
            <a:ext cx="8874125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2288" y="274638"/>
            <a:ext cx="9396412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22288" y="1600200"/>
            <a:ext cx="462121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95900" y="1600200"/>
            <a:ext cx="4622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2288" y="274638"/>
            <a:ext cx="9396412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2288" y="1535113"/>
            <a:ext cx="46132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2288" y="2174875"/>
            <a:ext cx="46132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03838" y="1535113"/>
            <a:ext cx="46148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03838" y="2174875"/>
            <a:ext cx="46148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2288" y="274638"/>
            <a:ext cx="9396412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2288" y="273050"/>
            <a:ext cx="3435350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81463" y="273050"/>
            <a:ext cx="58372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2288" y="1435100"/>
            <a:ext cx="3435350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46288" y="4800600"/>
            <a:ext cx="6264275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46288" y="612775"/>
            <a:ext cx="6264275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46288" y="5367338"/>
            <a:ext cx="6264275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2288" y="274638"/>
            <a:ext cx="9396412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22288" y="1600200"/>
            <a:ext cx="9396412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70788" y="274638"/>
            <a:ext cx="2347912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22288" y="274638"/>
            <a:ext cx="68961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22288" y="274638"/>
            <a:ext cx="9396412" cy="585152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82638" y="2130425"/>
            <a:ext cx="8875712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66863" y="3886200"/>
            <a:ext cx="7307262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2288" y="274638"/>
            <a:ext cx="9396412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2288" y="1600200"/>
            <a:ext cx="9396412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500" y="4406900"/>
            <a:ext cx="8874125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5500" y="2906713"/>
            <a:ext cx="8874125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2288" y="274638"/>
            <a:ext cx="9396412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22288" y="1600200"/>
            <a:ext cx="462121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95900" y="1600200"/>
            <a:ext cx="4622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2288" y="274638"/>
            <a:ext cx="9396412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2288" y="1535113"/>
            <a:ext cx="46132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2288" y="2174875"/>
            <a:ext cx="46132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03838" y="1535113"/>
            <a:ext cx="46148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03838" y="2174875"/>
            <a:ext cx="46148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2288" y="274638"/>
            <a:ext cx="9396412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2288" y="273050"/>
            <a:ext cx="3435350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81463" y="273050"/>
            <a:ext cx="58372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2288" y="1435100"/>
            <a:ext cx="3435350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46288" y="4800600"/>
            <a:ext cx="6264275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46288" y="612775"/>
            <a:ext cx="6264275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46288" y="5367338"/>
            <a:ext cx="6264275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2288" y="274638"/>
            <a:ext cx="9396412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22288" y="1600200"/>
            <a:ext cx="9396412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70788" y="274638"/>
            <a:ext cx="2347912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22288" y="274638"/>
            <a:ext cx="68961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22288" y="274638"/>
            <a:ext cx="9396412" cy="585152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1.GIF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4" Type="http://schemas.openxmlformats.org/officeDocument/2006/relationships/image" Target="../media/image2.png"/><Relationship Id="rId13" Type="http://schemas.openxmlformats.org/officeDocument/2006/relationships/image" Target="../media/image1.GIF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Slide Number Placeholder 10"/>
          <p:cNvSpPr txBox="1">
            <a:spLocks noGrp="1"/>
          </p:cNvSpPr>
          <p:nvPr/>
        </p:nvSpPr>
        <p:spPr>
          <a:xfrm>
            <a:off x="10017125" y="6492875"/>
            <a:ext cx="423863" cy="36512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anchor="ctr" anchorCtr="0"/>
          <a:p>
            <a:pPr lvl="0" algn="ctr" defTabSz="449580" eaLnBrk="1" hangingPunct="1">
              <a:lnSpc>
                <a:spcPct val="82000"/>
              </a:lnSpc>
              <a:buFont typeface="Times New Roman" panose="02020603050405020304" pitchFamily="18" charset="0"/>
            </a:pPr>
            <a:fld id="{9A0DB2DC-4C9A-4742-B13C-FB6460FD3503}" type="slidenum"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8" name="Rectangle 8"/>
          <p:cNvSpPr>
            <a:spLocks noChangeArrowheads="1"/>
          </p:cNvSpPr>
          <p:nvPr/>
        </p:nvSpPr>
        <p:spPr bwMode="auto">
          <a:xfrm>
            <a:off x="1588" y="404813"/>
            <a:ext cx="10439400" cy="69850"/>
          </a:xfrm>
          <a:prstGeom prst="rect">
            <a:avLst/>
          </a:prstGeom>
          <a:solidFill>
            <a:srgbClr val="FF9900"/>
          </a:solidFill>
          <a:ln w="9525">
            <a:noFill/>
            <a:miter lim="800000"/>
          </a:ln>
        </p:spPr>
        <p:txBody>
          <a:bodyPr wrap="none" lIns="96663" tIns="48332" rIns="96663" bIns="48332" anchor="ctr"/>
          <a:lstStyle/>
          <a:p>
            <a:pPr marL="0" marR="0" lvl="0" indent="0" algn="l" defTabSz="481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>
            <a:off x="0" y="0"/>
            <a:ext cx="10440988" cy="404813"/>
          </a:xfrm>
          <a:prstGeom prst="rect">
            <a:avLst/>
          </a:prstGeom>
          <a:gradFill rotWithShape="0"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5400000" scaled="1"/>
          </a:gradFill>
          <a:ln w="9525" cap="rnd">
            <a:solidFill>
              <a:schemeClr val="tx1"/>
            </a:solidFill>
            <a:prstDash val="sysDot"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29" name="Picture 8" descr="33333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893175" y="0"/>
            <a:ext cx="1116013" cy="4048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0" name="Picture 2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13950" y="0"/>
            <a:ext cx="427038" cy="4079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Slide Number Placeholder 10"/>
          <p:cNvSpPr txBox="1">
            <a:spLocks noGrp="1"/>
          </p:cNvSpPr>
          <p:nvPr/>
        </p:nvSpPr>
        <p:spPr>
          <a:xfrm>
            <a:off x="10017125" y="6492875"/>
            <a:ext cx="423863" cy="36512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anchor="ctr" anchorCtr="0"/>
          <a:p>
            <a:pPr lvl="0" algn="ctr" defTabSz="449580" eaLnBrk="1" hangingPunct="1">
              <a:lnSpc>
                <a:spcPct val="82000"/>
              </a:lnSpc>
              <a:buFont typeface="Times New Roman" panose="02020603050405020304" pitchFamily="18" charset="0"/>
            </a:pPr>
            <a:fld id="{9A0DB2DC-4C9A-4742-B13C-FB6460FD3503}" type="slidenum"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8" name="Rectangle 8"/>
          <p:cNvSpPr>
            <a:spLocks noChangeArrowheads="1"/>
          </p:cNvSpPr>
          <p:nvPr/>
        </p:nvSpPr>
        <p:spPr bwMode="auto">
          <a:xfrm>
            <a:off x="1588" y="404813"/>
            <a:ext cx="10439400" cy="69850"/>
          </a:xfrm>
          <a:prstGeom prst="rect">
            <a:avLst/>
          </a:prstGeom>
          <a:solidFill>
            <a:srgbClr val="FF9900"/>
          </a:solidFill>
          <a:ln w="9525">
            <a:noFill/>
            <a:miter lim="800000"/>
          </a:ln>
        </p:spPr>
        <p:txBody>
          <a:bodyPr wrap="none" lIns="96663" tIns="48332" rIns="96663" bIns="48332" anchor="ctr"/>
          <a:lstStyle/>
          <a:p>
            <a:pPr marL="0" marR="0" lvl="0" indent="0" algn="l" defTabSz="481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>
            <a:off x="0" y="0"/>
            <a:ext cx="10440988" cy="404813"/>
          </a:xfrm>
          <a:prstGeom prst="rect">
            <a:avLst/>
          </a:prstGeom>
          <a:gradFill rotWithShape="0"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5400000" scaled="1"/>
          </a:gradFill>
          <a:ln w="9525" cap="rnd">
            <a:solidFill>
              <a:schemeClr val="tx1"/>
            </a:solidFill>
            <a:prstDash val="sysDot"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3" name="Picture 8" descr="33333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893175" y="0"/>
            <a:ext cx="1116013" cy="4048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4" name="Picture 2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13950" y="0"/>
            <a:ext cx="427038" cy="4079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12"/>
          <p:cNvSpPr/>
          <p:nvPr/>
        </p:nvSpPr>
        <p:spPr>
          <a:xfrm>
            <a:off x="0" y="0"/>
            <a:ext cx="10440988" cy="333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eaLnBrk="0" hangingPunct="0"/>
            <a:r>
              <a:rPr lang="en-US" altLang="zh-CN" sz="2200" dirty="0">
                <a:latin typeface="Arial" panose="020B0604020202020204" pitchFamily="34" charset="0"/>
                <a:ea typeface="宋体" panose="02010600030101010101" pitchFamily="2" charset="-122"/>
              </a:rPr>
              <a:t>Preprocess and Mesh statistics</a:t>
            </a:r>
            <a:endParaRPr lang="en-US" altLang="zh-CN" sz="2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2" name="Text Box 3"/>
          <p:cNvSpPr txBox="1"/>
          <p:nvPr/>
        </p:nvSpPr>
        <p:spPr>
          <a:xfrm>
            <a:off x="107950" y="115888"/>
            <a:ext cx="996950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网格统计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3" name="Text Box 3"/>
          <p:cNvSpPr txBox="1"/>
          <p:nvPr/>
        </p:nvSpPr>
        <p:spPr>
          <a:xfrm>
            <a:off x="0" y="549275"/>
            <a:ext cx="4497388" cy="3508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 Specification: the type of model used 3d meshes ansys</a:t>
            </a:r>
            <a:endParaRPr lang="en-US" altLang="zh-CN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</p:txBody>
      </p:sp>
      <p:sp>
        <p:nvSpPr>
          <p:cNvPr id="5124" name="矩形 5"/>
          <p:cNvSpPr/>
          <p:nvPr/>
        </p:nvSpPr>
        <p:spPr>
          <a:xfrm>
            <a:off x="147638" y="1357313"/>
            <a:ext cx="3857625" cy="4154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Tetrahedras </a:t>
            </a:r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----------------------------------------</a:t>
            </a:r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Entity counts:</a:t>
            </a:r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    Tetrahedra           768403</a:t>
            </a:r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    Connected nodes      138206</a:t>
            </a:r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    Connectivity regions 2</a:t>
            </a:r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Volume by element types:</a:t>
            </a:r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(Mold blocks and cooling channels are not included)</a:t>
            </a:r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    Tetra: 	45.0684 cm^3</a:t>
            </a:r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    Total: 	46.6374 cm^3</a:t>
            </a:r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Volume by components:</a:t>
            </a:r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  Cavity:	45.0684 cm^3</a:t>
            </a:r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  Inserts:	0 cm^3</a:t>
            </a:r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  Mold blocks:	0 cm^3</a:t>
            </a:r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Aspect ratio:</a:t>
            </a:r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    Maximum    Average    Minimum</a:t>
            </a:r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      96.55       8.02       1.09</a:t>
            </a:r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Maximum dihedral angle:	  176.9</a:t>
            </a:r>
            <a:endParaRPr lang="zh-CN" altLang="en-US" dirty="0">
              <a:latin typeface="Cambria" panose="02040503050406030204" pitchFamily="18" charset="0"/>
              <a:ea typeface="宋体" panose="02010600030101010101" pitchFamily="2" charset="-122"/>
            </a:endParaRPr>
          </a:p>
        </p:txBody>
      </p:sp>
      <p:pic>
        <p:nvPicPr>
          <p:cNvPr id="5125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1488" y="1143000"/>
            <a:ext cx="4732337" cy="4595813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12"/>
          <p:cNvSpPr/>
          <p:nvPr/>
        </p:nvSpPr>
        <p:spPr>
          <a:xfrm>
            <a:off x="0" y="0"/>
            <a:ext cx="10440988" cy="333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eaLnBrk="0" hangingPunct="0"/>
            <a:r>
              <a:rPr lang="en-US" altLang="zh-CN" sz="2200" dirty="0">
                <a:latin typeface="Arial" panose="020B0604020202020204" pitchFamily="34" charset="0"/>
                <a:ea typeface="宋体" panose="02010600030101010101" pitchFamily="2" charset="-122"/>
              </a:rPr>
              <a:t>Preprocess and Mesh statistics</a:t>
            </a:r>
            <a:endParaRPr lang="en-US" altLang="zh-CN" sz="2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6" name="Text Box 3"/>
          <p:cNvSpPr txBox="1"/>
          <p:nvPr/>
        </p:nvSpPr>
        <p:spPr>
          <a:xfrm>
            <a:off x="107950" y="115888"/>
            <a:ext cx="996950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网格统计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6147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875" y="1090613"/>
            <a:ext cx="5249863" cy="4676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12"/>
          <p:cNvSpPr/>
          <p:nvPr/>
        </p:nvSpPr>
        <p:spPr>
          <a:xfrm>
            <a:off x="0" y="0"/>
            <a:ext cx="10440988" cy="333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eaLnBrk="0" hangingPunct="0"/>
            <a:r>
              <a:rPr lang="en-US" altLang="zh-CN" sz="2200" dirty="0">
                <a:latin typeface="Arial" panose="020B0604020202020204" pitchFamily="34" charset="0"/>
                <a:ea typeface="宋体" panose="02010600030101010101" pitchFamily="2" charset="-122"/>
              </a:rPr>
              <a:t>Preprocess and Mesh statistics</a:t>
            </a:r>
            <a:endParaRPr lang="en-US" altLang="zh-CN" sz="2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0" name="Text Box 3"/>
          <p:cNvSpPr txBox="1"/>
          <p:nvPr/>
        </p:nvSpPr>
        <p:spPr>
          <a:xfrm>
            <a:off x="107950" y="115888"/>
            <a:ext cx="996950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网格统计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17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1775" y="1052513"/>
            <a:ext cx="5257800" cy="5032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3"/>
          <p:cNvSpPr/>
          <p:nvPr/>
        </p:nvSpPr>
        <p:spPr>
          <a:xfrm>
            <a:off x="0" y="6245225"/>
            <a:ext cx="10225088" cy="3762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 Above figure shows the pressure distribution through the flow path inside the mold, at the V/P switchover of the filling phase. </a:t>
            </a:r>
            <a:endParaRPr lang="en-US" altLang="zh-CN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</p:txBody>
      </p:sp>
      <p:sp>
        <p:nvSpPr>
          <p:cNvPr id="8194" name="Rectangle 4"/>
          <p:cNvSpPr/>
          <p:nvPr/>
        </p:nvSpPr>
        <p:spPr>
          <a:xfrm>
            <a:off x="0" y="0"/>
            <a:ext cx="10440988" cy="4762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latinLnBrk="1"/>
            <a:r>
              <a:rPr lang="en-US" altLang="zh-CN" sz="2200" dirty="0">
                <a:latin typeface="Arial" panose="020B0604020202020204" pitchFamily="34" charset="0"/>
                <a:ea typeface="宋体" panose="02010600030101010101" pitchFamily="2" charset="-122"/>
              </a:rPr>
              <a:t>Pressure at V/P switchover</a:t>
            </a:r>
            <a:endParaRPr lang="en-US" altLang="zh-CN" sz="2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5" name="Text Box 3"/>
          <p:cNvSpPr txBox="1"/>
          <p:nvPr/>
        </p:nvSpPr>
        <p:spPr>
          <a:xfrm>
            <a:off x="77788" y="96838"/>
            <a:ext cx="1200150" cy="33496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转保压压力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19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75" y="836613"/>
            <a:ext cx="9601200" cy="47132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AutoShape 7" descr="C:\Program Files\Tencent\QQ\Users\1147033477\Image\}J@NOER2RT{ZIGH(M}V90.jpg"/>
          <p:cNvSpPr>
            <a:spLocks noChangeAspect="1"/>
          </p:cNvSpPr>
          <p:nvPr/>
        </p:nvSpPr>
        <p:spPr>
          <a:xfrm>
            <a:off x="0" y="0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endParaRPr lang="zh-CN" altLang="en-US" sz="15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8" name="AutoShape 8" descr="C:\Program Files\Tencent\QQ\Users\1147033477\Image\}J@NOER2RT{ZIGH(M}V90.jpg"/>
          <p:cNvSpPr>
            <a:spLocks noChangeAspect="1"/>
          </p:cNvSpPr>
          <p:nvPr/>
        </p:nvSpPr>
        <p:spPr>
          <a:xfrm>
            <a:off x="0" y="0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endParaRPr lang="zh-CN" altLang="en-US" sz="15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9" name="AutoShape 9" descr="C:\Program Files\Tencent\QQ\Users\1147033477\Image\}J@NOER2RT{ZIGH(M}V90.jpg"/>
          <p:cNvSpPr>
            <a:spLocks noChangeAspect="1"/>
          </p:cNvSpPr>
          <p:nvPr/>
        </p:nvSpPr>
        <p:spPr>
          <a:xfrm>
            <a:off x="0" y="0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endParaRPr lang="zh-CN" altLang="en-US" sz="15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AutoShape 10" descr="C:\Program Files\Tencent\QQ\Users\1147033477\Image\}J@NOER2RT{ZIGH(M}V90.jpg"/>
          <p:cNvSpPr>
            <a:spLocks noChangeAspect="1"/>
          </p:cNvSpPr>
          <p:nvPr/>
        </p:nvSpPr>
        <p:spPr>
          <a:xfrm>
            <a:off x="0" y="0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endParaRPr lang="zh-CN" altLang="en-US" sz="15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AutoShape 11" descr="C:\Program Files\Tencent\QQ\Users\1147033477\Image\}J@NOER2RT{ZIGH(M}V90.jpg"/>
          <p:cNvSpPr>
            <a:spLocks noChangeAspect="1"/>
          </p:cNvSpPr>
          <p:nvPr/>
        </p:nvSpPr>
        <p:spPr>
          <a:xfrm>
            <a:off x="0" y="0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endParaRPr lang="zh-CN" altLang="en-US" sz="15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22" name="Rectangle 10"/>
          <p:cNvSpPr/>
          <p:nvPr/>
        </p:nvSpPr>
        <p:spPr>
          <a:xfrm>
            <a:off x="0" y="0"/>
            <a:ext cx="10440988" cy="4048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latinLnBrk="1"/>
            <a:r>
              <a:rPr lang="en-US" altLang="zh-CN" sz="2200" dirty="0">
                <a:latin typeface="Arial" panose="020B0604020202020204" pitchFamily="34" charset="0"/>
                <a:ea typeface="宋体" panose="02010600030101010101" pitchFamily="2" charset="-122"/>
              </a:rPr>
              <a:t>Deflection-All</a:t>
            </a:r>
            <a:endParaRPr lang="en-US" altLang="zh-CN" sz="2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23" name="Text Box 3"/>
          <p:cNvSpPr txBox="1"/>
          <p:nvPr/>
        </p:nvSpPr>
        <p:spPr>
          <a:xfrm>
            <a:off x="60325" y="87313"/>
            <a:ext cx="1927225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产品整体收缩</a:t>
            </a:r>
            <a:r>
              <a:rPr lang="en-US" altLang="zh-CN" sz="16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+</a:t>
            </a:r>
            <a:r>
              <a:rPr lang="zh-CN" altLang="en-US" sz="16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变形</a:t>
            </a:r>
            <a:endParaRPr lang="zh-CN" altLang="en-US" sz="16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22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1268413"/>
            <a:ext cx="9180512" cy="4903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5" name="Text Box 3"/>
          <p:cNvSpPr txBox="1"/>
          <p:nvPr/>
        </p:nvSpPr>
        <p:spPr>
          <a:xfrm>
            <a:off x="611188" y="693738"/>
            <a:ext cx="3067050" cy="3063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400" dirty="0">
                <a:solidFill>
                  <a:srgbClr val="0000FF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产品整体最大变形 </a:t>
            </a:r>
            <a:r>
              <a:rPr lang="en-US" altLang="zh-CN" sz="1400" dirty="0">
                <a:solidFill>
                  <a:srgbClr val="FF0000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+</a:t>
            </a:r>
            <a:r>
              <a:rPr lang="zh-CN" altLang="en-US" sz="1400" dirty="0">
                <a:solidFill>
                  <a:srgbClr val="FF0000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缩水</a:t>
            </a:r>
            <a:r>
              <a:rPr lang="zh-CN" altLang="en-US" sz="1400" dirty="0">
                <a:solidFill>
                  <a:srgbClr val="0000FF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在红色区域 </a:t>
            </a:r>
            <a:r>
              <a:rPr lang="en-US" altLang="zh-CN" sz="1400" dirty="0">
                <a:solidFill>
                  <a:srgbClr val="0000FF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 </a:t>
            </a:r>
            <a:endParaRPr lang="zh-CN" altLang="en-US" sz="1400" dirty="0">
              <a:solidFill>
                <a:srgbClr val="0000FF"/>
              </a:solidFill>
              <a:latin typeface="Cambria" panose="02040503050406030204" pitchFamily="18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6"/>
          <p:cNvSpPr/>
          <p:nvPr/>
        </p:nvSpPr>
        <p:spPr>
          <a:xfrm>
            <a:off x="0" y="0"/>
            <a:ext cx="10440988" cy="4048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latinLnBrk="1"/>
            <a:r>
              <a:rPr lang="en-US" altLang="zh-CN" sz="2200" dirty="0">
                <a:latin typeface="Arial" panose="020B0604020202020204" pitchFamily="34" charset="0"/>
                <a:ea typeface="宋体" panose="02010600030101010101" pitchFamily="2" charset="-122"/>
              </a:rPr>
              <a:t>X-deflection</a:t>
            </a:r>
            <a:endParaRPr lang="en-US" altLang="zh-CN" sz="2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2" name="Text Box 3"/>
          <p:cNvSpPr txBox="1"/>
          <p:nvPr/>
        </p:nvSpPr>
        <p:spPr>
          <a:xfrm>
            <a:off x="60325" y="87313"/>
            <a:ext cx="1536700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产品</a:t>
            </a:r>
            <a:r>
              <a:rPr lang="en-US" altLang="zh-CN" sz="16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X</a:t>
            </a:r>
            <a:r>
              <a:rPr lang="zh-CN" altLang="en-US" sz="16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方向变形</a:t>
            </a:r>
            <a:endParaRPr lang="zh-CN" altLang="en-US" sz="16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24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775" y="1412875"/>
            <a:ext cx="9086850" cy="4689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4" name="Text Box 3"/>
          <p:cNvSpPr txBox="1"/>
          <p:nvPr/>
        </p:nvSpPr>
        <p:spPr>
          <a:xfrm>
            <a:off x="323850" y="765175"/>
            <a:ext cx="3840163" cy="3063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400" dirty="0">
                <a:solidFill>
                  <a:srgbClr val="0000FF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产品</a:t>
            </a:r>
            <a:r>
              <a:rPr lang="en-US" altLang="zh-CN" sz="1400" dirty="0">
                <a:solidFill>
                  <a:srgbClr val="0000FF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X</a:t>
            </a:r>
            <a:r>
              <a:rPr lang="zh-CN" altLang="en-US" sz="1400" dirty="0">
                <a:solidFill>
                  <a:srgbClr val="0000FF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方向最大变形 </a:t>
            </a:r>
            <a:r>
              <a:rPr lang="en-US" altLang="zh-CN" sz="1400" dirty="0">
                <a:solidFill>
                  <a:srgbClr val="FF0000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+</a:t>
            </a:r>
            <a:r>
              <a:rPr lang="zh-CN" altLang="en-US" sz="1400" dirty="0">
                <a:solidFill>
                  <a:srgbClr val="FF0000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缩水</a:t>
            </a:r>
            <a:r>
              <a:rPr lang="zh-CN" altLang="en-US" sz="1400" dirty="0">
                <a:solidFill>
                  <a:srgbClr val="0000FF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在红色和深蓝色区域</a:t>
            </a:r>
            <a:r>
              <a:rPr lang="en-US" altLang="zh-CN" sz="1400" dirty="0">
                <a:solidFill>
                  <a:srgbClr val="0000FF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 </a:t>
            </a:r>
            <a:endParaRPr lang="zh-CN" altLang="en-US" sz="1400" dirty="0">
              <a:solidFill>
                <a:srgbClr val="0000FF"/>
              </a:solidFill>
              <a:latin typeface="Cambria" panose="02040503050406030204" pitchFamily="18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6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412875"/>
            <a:ext cx="9109075" cy="4506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6" name="Rectangle 6"/>
          <p:cNvSpPr/>
          <p:nvPr/>
        </p:nvSpPr>
        <p:spPr>
          <a:xfrm>
            <a:off x="0" y="0"/>
            <a:ext cx="10440988" cy="4048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latinLnBrk="1"/>
            <a:r>
              <a:rPr lang="en-US" altLang="zh-CN" sz="2200" dirty="0">
                <a:latin typeface="Arial" panose="020B0604020202020204" pitchFamily="34" charset="0"/>
                <a:ea typeface="宋体" panose="02010600030101010101" pitchFamily="2" charset="-122"/>
              </a:rPr>
              <a:t>Y-deflection</a:t>
            </a:r>
            <a:endParaRPr lang="en-US" altLang="zh-CN" sz="2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7" name="Text Box 3"/>
          <p:cNvSpPr txBox="1"/>
          <p:nvPr/>
        </p:nvSpPr>
        <p:spPr>
          <a:xfrm>
            <a:off x="60325" y="87313"/>
            <a:ext cx="1536700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产品</a:t>
            </a:r>
            <a:r>
              <a:rPr lang="en-US" altLang="zh-CN" sz="16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Y</a:t>
            </a:r>
            <a:r>
              <a:rPr lang="zh-CN" altLang="en-US" sz="16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方向变形</a:t>
            </a:r>
            <a:endParaRPr lang="zh-CN" altLang="en-US" sz="16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8" name="Text Box 3"/>
          <p:cNvSpPr txBox="1"/>
          <p:nvPr/>
        </p:nvSpPr>
        <p:spPr>
          <a:xfrm>
            <a:off x="179388" y="765175"/>
            <a:ext cx="3840162" cy="3079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400" dirty="0">
                <a:solidFill>
                  <a:srgbClr val="0000FF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产品</a:t>
            </a:r>
            <a:r>
              <a:rPr lang="en-US" altLang="zh-CN" sz="1400" dirty="0">
                <a:solidFill>
                  <a:srgbClr val="0000FF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Y</a:t>
            </a:r>
            <a:r>
              <a:rPr lang="zh-CN" altLang="en-US" sz="1400" dirty="0">
                <a:solidFill>
                  <a:srgbClr val="0000FF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方向最大变形 </a:t>
            </a:r>
            <a:r>
              <a:rPr lang="en-US" altLang="zh-CN" sz="1400" dirty="0">
                <a:solidFill>
                  <a:srgbClr val="FF0000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+</a:t>
            </a:r>
            <a:r>
              <a:rPr lang="zh-CN" altLang="en-US" sz="1400" dirty="0">
                <a:solidFill>
                  <a:srgbClr val="FF0000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缩水</a:t>
            </a:r>
            <a:r>
              <a:rPr lang="zh-CN" altLang="en-US" sz="1400" dirty="0">
                <a:solidFill>
                  <a:srgbClr val="0000FF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在红色和深蓝色区域</a:t>
            </a:r>
            <a:r>
              <a:rPr lang="en-US" altLang="zh-CN" sz="1400" dirty="0">
                <a:solidFill>
                  <a:srgbClr val="0000FF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 </a:t>
            </a:r>
            <a:endParaRPr lang="zh-CN" altLang="en-US" sz="1400" dirty="0">
              <a:solidFill>
                <a:srgbClr val="0000FF"/>
              </a:solidFill>
              <a:latin typeface="Cambria" panose="02040503050406030204" pitchFamily="18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13"/>
          <p:cNvSpPr/>
          <p:nvPr/>
        </p:nvSpPr>
        <p:spPr>
          <a:xfrm>
            <a:off x="0" y="0"/>
            <a:ext cx="10440988" cy="4048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latinLnBrk="1"/>
            <a:r>
              <a:rPr lang="en-US" altLang="zh-CN" sz="2200" dirty="0">
                <a:latin typeface="Arial" panose="020B0604020202020204" pitchFamily="34" charset="0"/>
                <a:ea typeface="宋体" panose="02010600030101010101" pitchFamily="2" charset="-122"/>
              </a:rPr>
              <a:t>Z –deflection</a:t>
            </a:r>
            <a:endParaRPr lang="en-US" altLang="zh-CN" sz="2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0" name="Text Box 3"/>
          <p:cNvSpPr txBox="1"/>
          <p:nvPr/>
        </p:nvSpPr>
        <p:spPr>
          <a:xfrm>
            <a:off x="60325" y="87313"/>
            <a:ext cx="1525588" cy="3381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产品</a:t>
            </a:r>
            <a:r>
              <a:rPr lang="en-US" altLang="zh-CN" sz="16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Z</a:t>
            </a:r>
            <a:r>
              <a:rPr lang="zh-CN" altLang="en-US" sz="16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方向变形</a:t>
            </a:r>
            <a:endParaRPr lang="zh-CN" altLang="en-US" sz="16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1" name="Text Box 3"/>
          <p:cNvSpPr txBox="1"/>
          <p:nvPr/>
        </p:nvSpPr>
        <p:spPr>
          <a:xfrm>
            <a:off x="179388" y="765175"/>
            <a:ext cx="3738562" cy="3079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400" dirty="0">
                <a:solidFill>
                  <a:srgbClr val="0000FF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产品方向最大变形 </a:t>
            </a:r>
            <a:r>
              <a:rPr lang="en-US" altLang="zh-CN" sz="1400" dirty="0">
                <a:solidFill>
                  <a:srgbClr val="FF0000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+</a:t>
            </a:r>
            <a:r>
              <a:rPr lang="zh-CN" altLang="en-US" sz="1400" dirty="0">
                <a:solidFill>
                  <a:srgbClr val="FF0000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缩水</a:t>
            </a:r>
            <a:r>
              <a:rPr lang="zh-CN" altLang="en-US" sz="1400" dirty="0">
                <a:solidFill>
                  <a:srgbClr val="0000FF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在红色和深蓝色区域</a:t>
            </a:r>
            <a:r>
              <a:rPr lang="en-US" altLang="zh-CN" sz="1400" dirty="0">
                <a:solidFill>
                  <a:srgbClr val="0000FF"/>
                </a:solidFill>
                <a:latin typeface="Cambria" panose="020405030504060302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 </a:t>
            </a:r>
            <a:endParaRPr lang="zh-CN" altLang="en-US" sz="1400" dirty="0">
              <a:solidFill>
                <a:srgbClr val="0000FF"/>
              </a:solidFill>
              <a:latin typeface="Cambria" panose="02040503050406030204" pitchFamily="18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1229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1433513"/>
            <a:ext cx="9434512" cy="48275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952</Words>
  <Application>WPS 演示</Application>
  <PresentationFormat>自定义</PresentationFormat>
  <Paragraphs>67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Times New Roman</vt:lpstr>
      <vt:lpstr>Cambria</vt:lpstr>
      <vt:lpstr>PMingLiU</vt:lpstr>
      <vt:lpstr>MingLiU-ExtB</vt:lpstr>
      <vt:lpstr>方正姚体</vt:lpstr>
      <vt:lpstr>DFKai-SB</vt:lpstr>
      <vt:lpstr>華康粗明體</vt:lpstr>
      <vt:lpstr>微软雅黑</vt:lpstr>
      <vt:lpstr>Arial Unicode MS</vt:lpstr>
      <vt:lpstr>1_默认设计模板</vt:lpstr>
      <vt:lpstr>2_默认设计模板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HARMAN INTERNATIONAL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MOLD FLOW TEMPLATE</dc:title>
  <dc:creator>VShepley - DSell</dc:creator>
  <cp:lastModifiedBy>Charlene</cp:lastModifiedBy>
  <cp:revision>8881</cp:revision>
  <dcterms:created xsi:type="dcterms:W3CDTF">2007-11-13T07:45:42Z</dcterms:created>
  <dcterms:modified xsi:type="dcterms:W3CDTF">2024-06-21T02:25:04Z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2052-12.1.0.17133</vt:lpwstr>
  </property>
  <property fmtid="{D5CDD505-2E9C-101B-9397-08002B2CF9AE}" pid="3" name="ICV">
    <vt:lpwstr>B72B7E5206B747358D77DCA16916A6F7_13</vt:lpwstr>
  </property>
</Properties>
</file>